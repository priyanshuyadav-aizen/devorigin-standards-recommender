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41" autoAdjust="0"/>
  </p:normalViewPr>
  <p:slideViewPr>
    <p:cSldViewPr>
      <p:cViewPr varScale="1">
        <p:scale>
          <a:sx n="95" d="100"/>
          <a:sy n="95" d="100"/>
        </p:scale>
        <p:origin x="17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SINGH" userId="14ebeeec6d0788dd" providerId="LiveId" clId="{16433D44-589E-44C1-B1B9-468647F24F32}"/>
    <pc:docChg chg="undo custSel modSld">
      <pc:chgData name="ABHISHEK SINGH" userId="14ebeeec6d0788dd" providerId="LiveId" clId="{16433D44-589E-44C1-B1B9-468647F24F32}" dt="2026-09-20T13:29:10.256" v="41" actId="20577"/>
      <pc:docMkLst>
        <pc:docMk/>
      </pc:docMkLst>
      <pc:sldChg chg="modSp mod">
        <pc:chgData name="ABHISHEK SINGH" userId="14ebeeec6d0788dd" providerId="LiveId" clId="{16433D44-589E-44C1-B1B9-468647F24F32}" dt="2026-09-20T13:21:35.990" v="34" actId="20577"/>
        <pc:sldMkLst>
          <pc:docMk/>
          <pc:sldMk cId="0" sldId="257"/>
        </pc:sldMkLst>
        <pc:spChg chg="mod">
          <ac:chgData name="ABHISHEK SINGH" userId="14ebeeec6d0788dd" providerId="LiveId" clId="{16433D44-589E-44C1-B1B9-468647F24F32}" dt="2026-09-20T13:21:35.990" v="34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ABHISHEK SINGH" userId="14ebeeec6d0788dd" providerId="LiveId" clId="{16433D44-589E-44C1-B1B9-468647F24F32}" dt="2026-09-20T13:28:18.329" v="35" actId="14100"/>
        <pc:sldMkLst>
          <pc:docMk/>
          <pc:sldMk cId="0" sldId="258"/>
        </pc:sldMkLst>
        <pc:spChg chg="mod">
          <ac:chgData name="ABHISHEK SINGH" userId="14ebeeec6d0788dd" providerId="LiveId" clId="{16433D44-589E-44C1-B1B9-468647F24F32}" dt="2026-09-20T13:20:21.780" v="33" actId="20577"/>
          <ac:spMkLst>
            <pc:docMk/>
            <pc:sldMk cId="0" sldId="258"/>
            <ac:spMk id="4" creationId="{00000000-0000-0000-0000-000000000000}"/>
          </ac:spMkLst>
        </pc:spChg>
        <pc:picChg chg="mod">
          <ac:chgData name="ABHISHEK SINGH" userId="14ebeeec6d0788dd" providerId="LiveId" clId="{16433D44-589E-44C1-B1B9-468647F24F32}" dt="2026-09-20T13:28:18.329" v="35" actId="14100"/>
          <ac:picMkLst>
            <pc:docMk/>
            <pc:sldMk cId="0" sldId="258"/>
            <ac:picMk id="5" creationId="{1C45BE07-49E8-EFB8-35A2-099F5F547518}"/>
          </ac:picMkLst>
        </pc:picChg>
        <pc:picChg chg="mod">
          <ac:chgData name="ABHISHEK SINGH" userId="14ebeeec6d0788dd" providerId="LiveId" clId="{16433D44-589E-44C1-B1B9-468647F24F32}" dt="2026-09-20T13:19:28.064" v="22" actId="1076"/>
          <ac:picMkLst>
            <pc:docMk/>
            <pc:sldMk cId="0" sldId="258"/>
            <ac:picMk id="13" creationId="{E6651241-1918-7394-33DD-C3175C789093}"/>
          </ac:picMkLst>
        </pc:picChg>
      </pc:sldChg>
      <pc:sldChg chg="modSp mod">
        <pc:chgData name="ABHISHEK SINGH" userId="14ebeeec6d0788dd" providerId="LiveId" clId="{16433D44-589E-44C1-B1B9-468647F24F32}" dt="2026-09-20T13:29:10.256" v="41" actId="20577"/>
        <pc:sldMkLst>
          <pc:docMk/>
          <pc:sldMk cId="0" sldId="261"/>
        </pc:sldMkLst>
        <pc:spChg chg="mod">
          <ac:chgData name="ABHISHEK SINGH" userId="14ebeeec6d0788dd" providerId="LiveId" clId="{16433D44-589E-44C1-B1B9-468647F24F32}" dt="2026-09-20T13:29:10.256" v="41" actId="20577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5001" y="5029"/>
            <a:ext cx="6598284" cy="6446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0880" y="1784349"/>
            <a:ext cx="5384800" cy="4782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owpublishers.com/article/Details/INR-019" TargetMode="External"/><Relationship Id="rId13" Type="http://schemas.openxmlformats.org/officeDocument/2006/relationships/hyperlink" Target="https://arxiv.org/abs/2404.16130" TargetMode="External"/><Relationship Id="rId18" Type="http://schemas.openxmlformats.org/officeDocument/2006/relationships/image" Target="../media/image13.png"/><Relationship Id="rId3" Type="http://schemas.openxmlformats.org/officeDocument/2006/relationships/hyperlink" Target="https://doe.gov.in/files/circulars_document/Manual_Goods_2024.pdf" TargetMode="External"/><Relationship Id="rId7" Type="http://schemas.openxmlformats.org/officeDocument/2006/relationships/hyperlink" Target="https://law.resource.org/pub/in/bis/S03/is.1786.2008.pdf" TargetMode="External"/><Relationship Id="rId12" Type="http://schemas.openxmlformats.org/officeDocument/2006/relationships/hyperlink" Target="https://arxiv.org/abs/2005.11401" TargetMode="External"/><Relationship Id="rId17" Type="http://schemas.openxmlformats.org/officeDocument/2006/relationships/hyperlink" Target="https://arxiv.org/abs/1706.04599" TargetMode="External"/><Relationship Id="rId2" Type="http://schemas.openxmlformats.org/officeDocument/2006/relationships/image" Target="../media/image12.png"/><Relationship Id="rId16" Type="http://schemas.openxmlformats.org/officeDocument/2006/relationships/hyperlink" Target="https://arxiv.org/abs/2305.1630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is.gov.in/standards/standard-formulation/process-of-setting-standards/" TargetMode="External"/><Relationship Id="rId11" Type="http://schemas.openxmlformats.org/officeDocument/2006/relationships/hyperlink" Target="https://arxiv.org/abs/1901.04085" TargetMode="External"/><Relationship Id="rId5" Type="http://schemas.openxmlformats.org/officeDocument/2006/relationships/hyperlink" Target="https://theprint.in/economy/as-govt-starts-rolling-back-quality-control-orders-a-look-at-adverse-impact-they-had-mainly-on-msmes/2785033/" TargetMode="External"/><Relationship Id="rId15" Type="http://schemas.openxmlformats.org/officeDocument/2006/relationships/hyperlink" Target="https://arxiv.org/abs/2512.12117" TargetMode="External"/><Relationship Id="rId10" Type="http://schemas.openxmlformats.org/officeDocument/2006/relationships/hyperlink" Target="https://arxiv.org/abs/2309.07597" TargetMode="External"/><Relationship Id="rId4" Type="http://schemas.openxmlformats.org/officeDocument/2006/relationships/hyperlink" Target="https://www.pib.gov.in/PressReleseDetailm.aspx?PRID=2110935" TargetMode="External"/><Relationship Id="rId9" Type="http://schemas.openxmlformats.org/officeDocument/2006/relationships/hyperlink" Target="https://arxiv.org/abs/1908.10084" TargetMode="External"/><Relationship Id="rId14" Type="http://schemas.openxmlformats.org/officeDocument/2006/relationships/hyperlink" Target="https://arxiv.org/abs/2604.0173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56" y="0"/>
            <a:ext cx="6373495" cy="6007735"/>
            <a:chOff x="5657056" y="0"/>
            <a:chExt cx="6373495" cy="6007735"/>
          </a:xfrm>
        </p:grpSpPr>
        <p:sp>
          <p:nvSpPr>
            <p:cNvPr id="3" name="object 3"/>
            <p:cNvSpPr/>
            <p:nvPr/>
          </p:nvSpPr>
          <p:spPr>
            <a:xfrm>
              <a:off x="5657056" y="850391"/>
              <a:ext cx="4639310" cy="5157470"/>
            </a:xfrm>
            <a:custGeom>
              <a:avLst/>
              <a:gdLst/>
              <a:ahLst/>
              <a:cxnLst/>
              <a:rect l="l" t="t" r="r" b="b"/>
              <a:pathLst>
                <a:path w="4639309" h="5157470">
                  <a:moveTo>
                    <a:pt x="1873408" y="0"/>
                  </a:moveTo>
                  <a:lnTo>
                    <a:pt x="1180115" y="0"/>
                  </a:lnTo>
                  <a:lnTo>
                    <a:pt x="1147462" y="5788"/>
                  </a:lnTo>
                  <a:lnTo>
                    <a:pt x="1092301" y="48702"/>
                  </a:lnTo>
                  <a:lnTo>
                    <a:pt x="1072292" y="83566"/>
                  </a:lnTo>
                  <a:lnTo>
                    <a:pt x="726344" y="881634"/>
                  </a:lnTo>
                  <a:lnTo>
                    <a:pt x="713700" y="921079"/>
                  </a:lnTo>
                  <a:lnTo>
                    <a:pt x="709485" y="963168"/>
                  </a:lnTo>
                  <a:lnTo>
                    <a:pt x="713700" y="1005256"/>
                  </a:lnTo>
                  <a:lnTo>
                    <a:pt x="726344" y="1044702"/>
                  </a:lnTo>
                  <a:lnTo>
                    <a:pt x="1072292" y="1842770"/>
                  </a:lnTo>
                  <a:lnTo>
                    <a:pt x="1092263" y="1877663"/>
                  </a:lnTo>
                  <a:lnTo>
                    <a:pt x="1118647" y="1904492"/>
                  </a:lnTo>
                  <a:lnTo>
                    <a:pt x="787050" y="2669413"/>
                  </a:lnTo>
                  <a:lnTo>
                    <a:pt x="769506" y="2715271"/>
                  </a:lnTo>
                  <a:lnTo>
                    <a:pt x="756975" y="2763460"/>
                  </a:lnTo>
                  <a:lnTo>
                    <a:pt x="749456" y="2813203"/>
                  </a:lnTo>
                  <a:lnTo>
                    <a:pt x="746950" y="2863723"/>
                  </a:lnTo>
                  <a:lnTo>
                    <a:pt x="749456" y="2914242"/>
                  </a:lnTo>
                  <a:lnTo>
                    <a:pt x="756975" y="2963985"/>
                  </a:lnTo>
                  <a:lnTo>
                    <a:pt x="769506" y="3012174"/>
                  </a:lnTo>
                  <a:lnTo>
                    <a:pt x="787050" y="3058033"/>
                  </a:lnTo>
                  <a:lnTo>
                    <a:pt x="1610772" y="4958194"/>
                  </a:lnTo>
                  <a:lnTo>
                    <a:pt x="1636214" y="5008011"/>
                  </a:lnTo>
                  <a:lnTo>
                    <a:pt x="1666336" y="5051529"/>
                  </a:lnTo>
                  <a:lnTo>
                    <a:pt x="1700579" y="5088250"/>
                  </a:lnTo>
                  <a:lnTo>
                    <a:pt x="1738384" y="5117676"/>
                  </a:lnTo>
                  <a:lnTo>
                    <a:pt x="1779190" y="5139311"/>
                  </a:lnTo>
                  <a:lnTo>
                    <a:pt x="1822437" y="5152656"/>
                  </a:lnTo>
                  <a:lnTo>
                    <a:pt x="1867566" y="5157216"/>
                  </a:lnTo>
                  <a:lnTo>
                    <a:pt x="3518566" y="5157216"/>
                  </a:lnTo>
                  <a:lnTo>
                    <a:pt x="3562518" y="5152656"/>
                  </a:lnTo>
                  <a:lnTo>
                    <a:pt x="3605224" y="5139311"/>
                  </a:lnTo>
                  <a:lnTo>
                    <a:pt x="3645872" y="5117676"/>
                  </a:lnTo>
                  <a:lnTo>
                    <a:pt x="3683653" y="5088250"/>
                  </a:lnTo>
                  <a:lnTo>
                    <a:pt x="3717754" y="5051529"/>
                  </a:lnTo>
                  <a:lnTo>
                    <a:pt x="3747366" y="5008011"/>
                  </a:lnTo>
                  <a:lnTo>
                    <a:pt x="3771677" y="4958194"/>
                  </a:lnTo>
                  <a:lnTo>
                    <a:pt x="4598955" y="3058033"/>
                  </a:lnTo>
                  <a:lnTo>
                    <a:pt x="4616499" y="3012174"/>
                  </a:lnTo>
                  <a:lnTo>
                    <a:pt x="4629030" y="2963985"/>
                  </a:lnTo>
                  <a:lnTo>
                    <a:pt x="4636549" y="2914242"/>
                  </a:lnTo>
                  <a:lnTo>
                    <a:pt x="4639056" y="2863723"/>
                  </a:lnTo>
                  <a:lnTo>
                    <a:pt x="4636549" y="2813203"/>
                  </a:lnTo>
                  <a:lnTo>
                    <a:pt x="4629030" y="2763460"/>
                  </a:lnTo>
                  <a:lnTo>
                    <a:pt x="4616499" y="2715271"/>
                  </a:lnTo>
                  <a:lnTo>
                    <a:pt x="4598955" y="2669413"/>
                  </a:lnTo>
                  <a:lnTo>
                    <a:pt x="4271384" y="1917065"/>
                  </a:lnTo>
                  <a:lnTo>
                    <a:pt x="1177194" y="1917065"/>
                  </a:lnTo>
                  <a:lnTo>
                    <a:pt x="1168790" y="1916687"/>
                  </a:lnTo>
                  <a:lnTo>
                    <a:pt x="1160541" y="1915572"/>
                  </a:lnTo>
                  <a:lnTo>
                    <a:pt x="1152459" y="1913743"/>
                  </a:lnTo>
                  <a:lnTo>
                    <a:pt x="1144717" y="1911274"/>
                  </a:lnTo>
                  <a:lnTo>
                    <a:pt x="1125251" y="1900428"/>
                  </a:lnTo>
                  <a:lnTo>
                    <a:pt x="1143793" y="1857502"/>
                  </a:lnTo>
                  <a:lnTo>
                    <a:pt x="1168812" y="1799844"/>
                  </a:lnTo>
                  <a:lnTo>
                    <a:pt x="1164113" y="1797177"/>
                  </a:lnTo>
                  <a:lnTo>
                    <a:pt x="1132020" y="1759332"/>
                  </a:lnTo>
                  <a:lnTo>
                    <a:pt x="817149" y="1035558"/>
                  </a:lnTo>
                  <a:lnTo>
                    <a:pt x="802195" y="963168"/>
                  </a:lnTo>
                  <a:lnTo>
                    <a:pt x="805934" y="925830"/>
                  </a:lnTo>
                  <a:lnTo>
                    <a:pt x="1123854" y="183387"/>
                  </a:lnTo>
                  <a:lnTo>
                    <a:pt x="1164193" y="129174"/>
                  </a:lnTo>
                  <a:lnTo>
                    <a:pt x="1219485" y="109347"/>
                  </a:lnTo>
                  <a:lnTo>
                    <a:pt x="1991057" y="109347"/>
                  </a:lnTo>
                  <a:lnTo>
                    <a:pt x="1979834" y="83566"/>
                  </a:lnTo>
                  <a:lnTo>
                    <a:pt x="1960473" y="48702"/>
                  </a:lnTo>
                  <a:lnTo>
                    <a:pt x="1935051" y="22399"/>
                  </a:lnTo>
                  <a:lnTo>
                    <a:pt x="1905414" y="5788"/>
                  </a:lnTo>
                  <a:lnTo>
                    <a:pt x="1873408" y="0"/>
                  </a:lnTo>
                  <a:close/>
                </a:path>
                <a:path w="4639309" h="5157470">
                  <a:moveTo>
                    <a:pt x="673766" y="3126613"/>
                  </a:moveTo>
                  <a:lnTo>
                    <a:pt x="272446" y="3126613"/>
                  </a:lnTo>
                  <a:lnTo>
                    <a:pt x="253541" y="3129956"/>
                  </a:lnTo>
                  <a:lnTo>
                    <a:pt x="221636" y="3154741"/>
                  </a:lnTo>
                  <a:lnTo>
                    <a:pt x="9810" y="3636899"/>
                  </a:lnTo>
                  <a:lnTo>
                    <a:pt x="0" y="3684079"/>
                  </a:lnTo>
                  <a:lnTo>
                    <a:pt x="2452" y="3708443"/>
                  </a:lnTo>
                  <a:lnTo>
                    <a:pt x="210089" y="4193286"/>
                  </a:lnTo>
                  <a:lnTo>
                    <a:pt x="236362" y="4228719"/>
                  </a:lnTo>
                  <a:lnTo>
                    <a:pt x="272446" y="4241673"/>
                  </a:lnTo>
                  <a:lnTo>
                    <a:pt x="673766" y="4241673"/>
                  </a:lnTo>
                  <a:lnTo>
                    <a:pt x="724130" y="4213490"/>
                  </a:lnTo>
                  <a:lnTo>
                    <a:pt x="936402" y="3731260"/>
                  </a:lnTo>
                  <a:lnTo>
                    <a:pt x="946213" y="3684079"/>
                  </a:lnTo>
                  <a:lnTo>
                    <a:pt x="943760" y="3659715"/>
                  </a:lnTo>
                  <a:lnTo>
                    <a:pt x="735361" y="3174873"/>
                  </a:lnTo>
                  <a:lnTo>
                    <a:pt x="709422" y="3139551"/>
                  </a:lnTo>
                  <a:lnTo>
                    <a:pt x="673766" y="3126613"/>
                  </a:lnTo>
                  <a:close/>
                </a:path>
                <a:path w="4639309" h="5157470">
                  <a:moveTo>
                    <a:pt x="3518566" y="570230"/>
                  </a:moveTo>
                  <a:lnTo>
                    <a:pt x="2192813" y="570230"/>
                  </a:lnTo>
                  <a:lnTo>
                    <a:pt x="2324258" y="872236"/>
                  </a:lnTo>
                  <a:lnTo>
                    <a:pt x="2336903" y="911736"/>
                  </a:lnTo>
                  <a:lnTo>
                    <a:pt x="2341118" y="953833"/>
                  </a:lnTo>
                  <a:lnTo>
                    <a:pt x="2336903" y="995930"/>
                  </a:lnTo>
                  <a:lnTo>
                    <a:pt x="2324203" y="1035558"/>
                  </a:lnTo>
                  <a:lnTo>
                    <a:pt x="1976786" y="1833372"/>
                  </a:lnTo>
                  <a:lnTo>
                    <a:pt x="1957445" y="1868308"/>
                  </a:lnTo>
                  <a:lnTo>
                    <a:pt x="1902473" y="1911274"/>
                  </a:lnTo>
                  <a:lnTo>
                    <a:pt x="1870487" y="1917065"/>
                  </a:lnTo>
                  <a:lnTo>
                    <a:pt x="4271384" y="1917065"/>
                  </a:lnTo>
                  <a:lnTo>
                    <a:pt x="3771677" y="769366"/>
                  </a:lnTo>
                  <a:lnTo>
                    <a:pt x="3747366" y="719506"/>
                  </a:lnTo>
                  <a:lnTo>
                    <a:pt x="3717754" y="675958"/>
                  </a:lnTo>
                  <a:lnTo>
                    <a:pt x="3683653" y="639217"/>
                  </a:lnTo>
                  <a:lnTo>
                    <a:pt x="3645872" y="609778"/>
                  </a:lnTo>
                  <a:lnTo>
                    <a:pt x="3605224" y="588137"/>
                  </a:lnTo>
                  <a:lnTo>
                    <a:pt x="3562518" y="574789"/>
                  </a:lnTo>
                  <a:lnTo>
                    <a:pt x="3518566" y="570230"/>
                  </a:lnTo>
                  <a:close/>
                </a:path>
                <a:path w="4639309" h="5157470">
                  <a:moveTo>
                    <a:pt x="2097944" y="570230"/>
                  </a:moveTo>
                  <a:lnTo>
                    <a:pt x="1867566" y="570230"/>
                  </a:lnTo>
                  <a:lnTo>
                    <a:pt x="1822437" y="574789"/>
                  </a:lnTo>
                  <a:lnTo>
                    <a:pt x="1779190" y="588137"/>
                  </a:lnTo>
                  <a:lnTo>
                    <a:pt x="1738384" y="609778"/>
                  </a:lnTo>
                  <a:lnTo>
                    <a:pt x="1700579" y="639217"/>
                  </a:lnTo>
                  <a:lnTo>
                    <a:pt x="1666336" y="675958"/>
                  </a:lnTo>
                  <a:lnTo>
                    <a:pt x="1636214" y="719506"/>
                  </a:lnTo>
                  <a:lnTo>
                    <a:pt x="1610772" y="769366"/>
                  </a:lnTo>
                  <a:lnTo>
                    <a:pt x="1167669" y="1791462"/>
                  </a:lnTo>
                  <a:lnTo>
                    <a:pt x="1187608" y="1802638"/>
                  </a:lnTo>
                  <a:lnTo>
                    <a:pt x="1194631" y="1804824"/>
                  </a:lnTo>
                  <a:lnTo>
                    <a:pt x="1201785" y="1806416"/>
                  </a:lnTo>
                  <a:lnTo>
                    <a:pt x="1209057" y="1807388"/>
                  </a:lnTo>
                  <a:lnTo>
                    <a:pt x="1216437" y="1807718"/>
                  </a:lnTo>
                  <a:lnTo>
                    <a:pt x="1831244" y="1807718"/>
                  </a:lnTo>
                  <a:lnTo>
                    <a:pt x="1859347" y="1802638"/>
                  </a:lnTo>
                  <a:lnTo>
                    <a:pt x="1859503" y="1802638"/>
                  </a:lnTo>
                  <a:lnTo>
                    <a:pt x="1908290" y="1764587"/>
                  </a:lnTo>
                  <a:lnTo>
                    <a:pt x="2233453" y="1026160"/>
                  </a:lnTo>
                  <a:lnTo>
                    <a:pt x="2248408" y="953833"/>
                  </a:lnTo>
                  <a:lnTo>
                    <a:pt x="2244669" y="916503"/>
                  </a:lnTo>
                  <a:lnTo>
                    <a:pt x="2233494" y="881634"/>
                  </a:lnTo>
                  <a:lnTo>
                    <a:pt x="2097944" y="570230"/>
                  </a:lnTo>
                  <a:close/>
                </a:path>
                <a:path w="4639309" h="5157470">
                  <a:moveTo>
                    <a:pt x="1991057" y="109347"/>
                  </a:moveTo>
                  <a:lnTo>
                    <a:pt x="1834165" y="109347"/>
                  </a:lnTo>
                  <a:lnTo>
                    <a:pt x="1862516" y="114468"/>
                  </a:lnTo>
                  <a:lnTo>
                    <a:pt x="1888759" y="129174"/>
                  </a:lnTo>
                  <a:lnTo>
                    <a:pt x="1911264" y="152477"/>
                  </a:lnTo>
                  <a:lnTo>
                    <a:pt x="1928399" y="183387"/>
                  </a:lnTo>
                  <a:lnTo>
                    <a:pt x="2092356" y="559943"/>
                  </a:lnTo>
                  <a:lnTo>
                    <a:pt x="2187225" y="559943"/>
                  </a:lnTo>
                  <a:lnTo>
                    <a:pt x="1991057" y="109347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6023"/>
              <a:ext cx="3203448" cy="34259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1032" y="0"/>
              <a:ext cx="2249424" cy="1063752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271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1F487C"/>
                </a:solidFill>
                <a:latin typeface="Garamond"/>
                <a:cs typeface="Garamond"/>
              </a:rPr>
              <a:t>SMART</a:t>
            </a:r>
            <a:r>
              <a:rPr sz="3200" spc="-125" dirty="0">
                <a:solidFill>
                  <a:srgbClr val="1F487C"/>
                </a:solidFill>
                <a:latin typeface="Garamond"/>
                <a:cs typeface="Garamond"/>
              </a:rPr>
              <a:t> </a:t>
            </a:r>
            <a:r>
              <a:rPr sz="3200" dirty="0">
                <a:solidFill>
                  <a:srgbClr val="1F487C"/>
                </a:solidFill>
                <a:latin typeface="Garamond"/>
                <a:cs typeface="Garamond"/>
              </a:rPr>
              <a:t>INDIA</a:t>
            </a:r>
            <a:r>
              <a:rPr sz="3200" spc="-125" dirty="0">
                <a:solidFill>
                  <a:srgbClr val="1F487C"/>
                </a:solidFill>
                <a:latin typeface="Garamond"/>
                <a:cs typeface="Garamond"/>
              </a:rPr>
              <a:t> </a:t>
            </a:r>
            <a:r>
              <a:rPr sz="3200" spc="-10" dirty="0">
                <a:solidFill>
                  <a:srgbClr val="1F487C"/>
                </a:solidFill>
                <a:latin typeface="Garamond"/>
                <a:cs typeface="Garamond"/>
              </a:rPr>
              <a:t>HACKATHON</a:t>
            </a:r>
            <a:r>
              <a:rPr sz="3200" spc="-75" dirty="0">
                <a:solidFill>
                  <a:srgbClr val="1F487C"/>
                </a:solidFill>
                <a:latin typeface="Garamond"/>
                <a:cs typeface="Garamond"/>
              </a:rPr>
              <a:t> </a:t>
            </a:r>
            <a:r>
              <a:rPr sz="3200" spc="-20" dirty="0">
                <a:solidFill>
                  <a:srgbClr val="1F487C"/>
                </a:solidFill>
                <a:latin typeface="Garamond"/>
                <a:cs typeface="Garamond"/>
              </a:rPr>
              <a:t>2026</a:t>
            </a:r>
            <a:endParaRPr sz="32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1391" y="813003"/>
            <a:ext cx="8871585" cy="8216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110"/>
              </a:spcBef>
            </a:pPr>
            <a:r>
              <a:rPr sz="2800" b="1" spc="-35" dirty="0">
                <a:latin typeface="Arial"/>
                <a:cs typeface="Arial"/>
              </a:rPr>
              <a:t>AI-</a:t>
            </a:r>
            <a:r>
              <a:rPr sz="2800" b="1" dirty="0">
                <a:latin typeface="Arial"/>
                <a:cs typeface="Arial"/>
              </a:rPr>
              <a:t>Based</a:t>
            </a:r>
            <a:r>
              <a:rPr sz="2800" b="1" spc="70" dirty="0">
                <a:latin typeface="Arial"/>
                <a:cs typeface="Arial"/>
              </a:rPr>
              <a:t> </a:t>
            </a:r>
            <a:r>
              <a:rPr lang="en-IN" sz="2800" b="1" spc="70" dirty="0">
                <a:latin typeface="Arial"/>
                <a:cs typeface="Arial"/>
              </a:rPr>
              <a:t>Recommendation Engine</a:t>
            </a:r>
            <a:endParaRPr sz="28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562" y="2308097"/>
            <a:ext cx="6585584" cy="35407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Problem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statement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ID :- </a:t>
            </a:r>
            <a:r>
              <a:rPr lang="en-IN" sz="1800" dirty="0">
                <a:latin typeface="Arial"/>
                <a:cs typeface="Arial"/>
              </a:rPr>
              <a:t>SIH26108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Problem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statement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Title:-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AI</a:t>
            </a:r>
            <a:r>
              <a:rPr lang="en-IN" b="1" spc="25" dirty="0">
                <a:latin typeface="Arial"/>
                <a:cs typeface="Arial"/>
              </a:rPr>
              <a:t>-Powered Recommendation Engine for Identifying Applicable Indian Standards for Procurement Specifications</a:t>
            </a:r>
            <a:endParaRPr sz="1800" dirty="0">
              <a:latin typeface="Arial"/>
              <a:cs typeface="Arial"/>
            </a:endParaRPr>
          </a:p>
          <a:p>
            <a:pPr marL="12700" marR="3606165">
              <a:lnSpc>
                <a:spcPct val="200100"/>
              </a:lnSpc>
            </a:pPr>
            <a:r>
              <a:rPr sz="1800" dirty="0">
                <a:latin typeface="Arial"/>
                <a:cs typeface="Arial"/>
              </a:rPr>
              <a:t>Theme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:-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Smart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lang="en-IN" b="1" spc="-10" dirty="0">
                <a:latin typeface="Arial"/>
                <a:cs typeface="Arial"/>
              </a:rPr>
              <a:t>Automation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Category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:-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b="1" spc="-10" dirty="0" err="1">
                <a:latin typeface="Arial"/>
                <a:cs typeface="Arial"/>
              </a:rPr>
              <a:t>Softwa</a:t>
            </a:r>
            <a:r>
              <a:rPr lang="en-IN" sz="1800" b="1" spc="-10" dirty="0">
                <a:latin typeface="Arial"/>
                <a:cs typeface="Arial"/>
              </a:rPr>
              <a:t>re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Team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Name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:-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lang="en-IN" b="1" spc="-10" dirty="0" err="1">
                <a:latin typeface="Arial"/>
                <a:cs typeface="Arial"/>
              </a:rPr>
              <a:t>DevOrigin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Team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ID</a:t>
            </a:r>
            <a:r>
              <a:rPr sz="1800" spc="-25" dirty="0">
                <a:latin typeface="Arial"/>
                <a:cs typeface="Arial"/>
              </a:rPr>
              <a:t> :-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10"/>
              </a:spcBef>
            </a:pP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TITLE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545" y="513714"/>
            <a:ext cx="246824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sz="2000" b="1" u="sng" spc="-4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  <a:r>
              <a:rPr sz="2000" b="1" u="sng" spc="-6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spc="-5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–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169" y="850518"/>
            <a:ext cx="4308956" cy="6291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IN" sz="1200" dirty="0"/>
              <a:t>Dev Origin converts plain-language tender requirements into </a:t>
            </a:r>
            <a:r>
              <a:rPr lang="en-IN" sz="1200" b="1" dirty="0"/>
              <a:t>verified, current Indian Standards</a:t>
            </a:r>
            <a:r>
              <a:rPr lang="en-IN" sz="1200" dirty="0"/>
              <a:t> with certification requirements attached.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dirty="0"/>
              <a:t>Accepts </a:t>
            </a:r>
            <a:r>
              <a:rPr lang="en-IN" sz="1200" b="1" dirty="0"/>
              <a:t>text, BOQ, or tender PDF</a:t>
            </a:r>
            <a:r>
              <a:rPr lang="en-IN" sz="1200" dirty="0"/>
              <a:t> — English or regional languages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dirty="0"/>
              <a:t>Finds standards </a:t>
            </a:r>
            <a:r>
              <a:rPr lang="en-IN" sz="1200" b="1" dirty="0"/>
              <a:t>by meaning</a:t>
            </a:r>
            <a:r>
              <a:rPr lang="en-IN" sz="1200" dirty="0"/>
              <a:t>, not keyword — hybrid search + re-ranking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dirty="0"/>
              <a:t>Returns the </a:t>
            </a:r>
            <a:r>
              <a:rPr lang="en-IN" sz="1200" b="1" dirty="0"/>
              <a:t>full standards family</a:t>
            </a:r>
            <a:r>
              <a:rPr lang="en-IN" sz="1200" dirty="0"/>
              <a:t>: product standard, test methods, allied codes, ISO/IEC equivalents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dirty="0"/>
              <a:t>Flags </a:t>
            </a:r>
            <a:r>
              <a:rPr lang="en-IN" sz="1200" b="1" dirty="0"/>
              <a:t>latest edition</a:t>
            </a:r>
            <a:r>
              <a:rPr lang="en-IN" sz="1200" dirty="0"/>
              <a:t> and superseded/withdrawn standards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dirty="0"/>
              <a:t>Checks </a:t>
            </a:r>
            <a:r>
              <a:rPr lang="en-IN" sz="1200" b="1" dirty="0"/>
              <a:t>mandatory certification</a:t>
            </a:r>
            <a:r>
              <a:rPr lang="en-IN" sz="1200" dirty="0"/>
              <a:t>: QCO, ISI mark, CRS, hallmarking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dirty="0"/>
              <a:t>Every result is </a:t>
            </a:r>
            <a:r>
              <a:rPr lang="en-IN" sz="1200" b="1" dirty="0"/>
              <a:t>explainable</a:t>
            </a:r>
            <a:r>
              <a:rPr lang="en-IN" sz="1200" dirty="0"/>
              <a:t>: clause-level evidence, confidence score, sources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dirty="0"/>
              <a:t>Validates every citation against the catalogue — </a:t>
            </a:r>
            <a:r>
              <a:rPr lang="en-IN" sz="1200" b="1" dirty="0"/>
              <a:t>blocks fake standard numbers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dirty="0"/>
              <a:t>Drafts a </a:t>
            </a:r>
            <a:r>
              <a:rPr lang="en-IN" sz="1200" b="1" dirty="0"/>
              <a:t>GFR Rule 144-compliant clause</a:t>
            </a:r>
            <a:r>
              <a:rPr lang="en-IN" sz="1200" dirty="0"/>
              <a:t>; officer reviews and finalizes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b="1" dirty="0"/>
              <a:t>Asks, doesn't guess</a:t>
            </a:r>
            <a:r>
              <a:rPr lang="en-IN" sz="1200" dirty="0"/>
              <a:t>, when key details are missing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IN" sz="1200" b="1" dirty="0"/>
              <a:t>Innovation and uniqueness:</a:t>
            </a:r>
            <a:endParaRPr lang="en-IN" sz="1200" dirty="0"/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b="1" dirty="0"/>
              <a:t>Buyer-side</a:t>
            </a:r>
            <a:r>
              <a:rPr lang="en-IN" sz="1200" dirty="0"/>
              <a:t>, not bidder-side — prevents mistakes while drafting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b="1" dirty="0"/>
              <a:t>Standards family</a:t>
            </a:r>
            <a:r>
              <a:rPr lang="en-IN" sz="1200" dirty="0"/>
              <a:t>, not a single answer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b="1" dirty="0"/>
              <a:t>Live regulatory status</a:t>
            </a:r>
            <a:r>
              <a:rPr lang="en-IN" sz="1200" dirty="0"/>
              <a:t> — checked at query time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r>
              <a:rPr lang="en-IN" sz="1200" b="1" dirty="0"/>
              <a:t>Built for India</a:t>
            </a:r>
            <a:r>
              <a:rPr lang="en-IN" sz="1200" dirty="0"/>
              <a:t> — BIS, QCOs, GFR, Indian languages</a:t>
            </a:r>
          </a:p>
          <a:p>
            <a:pPr marL="171450" lvl="0" indent="-171450" rtl="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 rtl="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86510" cy="506475"/>
          </a:xfrm>
          <a:custGeom>
            <a:avLst/>
            <a:gdLst/>
            <a:ahLst/>
            <a:cxnLst/>
            <a:rect l="l" t="t" r="r" b="b"/>
            <a:pathLst>
              <a:path w="1286510" h="485140">
                <a:moveTo>
                  <a:pt x="0" y="242316"/>
                </a:moveTo>
                <a:lnTo>
                  <a:pt x="13065" y="193472"/>
                </a:lnTo>
                <a:lnTo>
                  <a:pt x="50539" y="147982"/>
                </a:lnTo>
                <a:lnTo>
                  <a:pt x="109835" y="106821"/>
                </a:lnTo>
                <a:lnTo>
                  <a:pt x="146857" y="88167"/>
                </a:lnTo>
                <a:lnTo>
                  <a:pt x="188366" y="70961"/>
                </a:lnTo>
                <a:lnTo>
                  <a:pt x="234037" y="55323"/>
                </a:lnTo>
                <a:lnTo>
                  <a:pt x="283547" y="41375"/>
                </a:lnTo>
                <a:lnTo>
                  <a:pt x="336573" y="29240"/>
                </a:lnTo>
                <a:lnTo>
                  <a:pt x="392791" y="19038"/>
                </a:lnTo>
                <a:lnTo>
                  <a:pt x="451879" y="10891"/>
                </a:lnTo>
                <a:lnTo>
                  <a:pt x="513514" y="4921"/>
                </a:lnTo>
                <a:lnTo>
                  <a:pt x="577371" y="1250"/>
                </a:lnTo>
                <a:lnTo>
                  <a:pt x="643128" y="0"/>
                </a:lnTo>
                <a:lnTo>
                  <a:pt x="708884" y="1250"/>
                </a:lnTo>
                <a:lnTo>
                  <a:pt x="772741" y="4921"/>
                </a:lnTo>
                <a:lnTo>
                  <a:pt x="834376" y="10891"/>
                </a:lnTo>
                <a:lnTo>
                  <a:pt x="893464" y="19038"/>
                </a:lnTo>
                <a:lnTo>
                  <a:pt x="949682" y="29240"/>
                </a:lnTo>
                <a:lnTo>
                  <a:pt x="1002708" y="41375"/>
                </a:lnTo>
                <a:lnTo>
                  <a:pt x="1052218" y="55323"/>
                </a:lnTo>
                <a:lnTo>
                  <a:pt x="1097889" y="70961"/>
                </a:lnTo>
                <a:lnTo>
                  <a:pt x="1139398" y="88167"/>
                </a:lnTo>
                <a:lnTo>
                  <a:pt x="1176420" y="106821"/>
                </a:lnTo>
                <a:lnTo>
                  <a:pt x="1235716" y="147982"/>
                </a:lnTo>
                <a:lnTo>
                  <a:pt x="1273190" y="193472"/>
                </a:lnTo>
                <a:lnTo>
                  <a:pt x="1286256" y="242316"/>
                </a:lnTo>
                <a:lnTo>
                  <a:pt x="1282935" y="267096"/>
                </a:lnTo>
                <a:lnTo>
                  <a:pt x="1257342" y="314384"/>
                </a:lnTo>
                <a:lnTo>
                  <a:pt x="1208634" y="357831"/>
                </a:lnTo>
                <a:lnTo>
                  <a:pt x="1139398" y="396464"/>
                </a:lnTo>
                <a:lnTo>
                  <a:pt x="1097889" y="413670"/>
                </a:lnTo>
                <a:lnTo>
                  <a:pt x="1052218" y="429308"/>
                </a:lnTo>
                <a:lnTo>
                  <a:pt x="1002708" y="443256"/>
                </a:lnTo>
                <a:lnTo>
                  <a:pt x="949682" y="455391"/>
                </a:lnTo>
                <a:lnTo>
                  <a:pt x="893464" y="465593"/>
                </a:lnTo>
                <a:lnTo>
                  <a:pt x="834376" y="473740"/>
                </a:lnTo>
                <a:lnTo>
                  <a:pt x="772741" y="479710"/>
                </a:lnTo>
                <a:lnTo>
                  <a:pt x="708884" y="483381"/>
                </a:lnTo>
                <a:lnTo>
                  <a:pt x="643128" y="484632"/>
                </a:lnTo>
                <a:lnTo>
                  <a:pt x="577371" y="483381"/>
                </a:lnTo>
                <a:lnTo>
                  <a:pt x="513514" y="479710"/>
                </a:lnTo>
                <a:lnTo>
                  <a:pt x="451879" y="473740"/>
                </a:lnTo>
                <a:lnTo>
                  <a:pt x="392791" y="465593"/>
                </a:lnTo>
                <a:lnTo>
                  <a:pt x="336573" y="455391"/>
                </a:lnTo>
                <a:lnTo>
                  <a:pt x="283547" y="443256"/>
                </a:lnTo>
                <a:lnTo>
                  <a:pt x="234037" y="429308"/>
                </a:lnTo>
                <a:lnTo>
                  <a:pt x="188366" y="413670"/>
                </a:lnTo>
                <a:lnTo>
                  <a:pt x="146857" y="396464"/>
                </a:lnTo>
                <a:lnTo>
                  <a:pt x="109835" y="377810"/>
                </a:lnTo>
                <a:lnTo>
                  <a:pt x="50539" y="336649"/>
                </a:lnTo>
                <a:lnTo>
                  <a:pt x="13065" y="291159"/>
                </a:lnTo>
                <a:lnTo>
                  <a:pt x="0" y="242316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 lang="en-IN" sz="1800" dirty="0"/>
          </a:p>
          <a:p>
            <a:endParaRPr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36576"/>
            <a:ext cx="1399031" cy="7101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C59DBF-59FC-E756-0567-69C213EE7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954" y="104127"/>
            <a:ext cx="5494760" cy="67825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E0C797-5C4D-8529-CDE0-2AA34CAB7D4E}"/>
              </a:ext>
            </a:extLst>
          </p:cNvPr>
          <p:cNvSpPr txBox="1"/>
          <p:nvPr/>
        </p:nvSpPr>
        <p:spPr>
          <a:xfrm>
            <a:off x="201169" y="105147"/>
            <a:ext cx="14545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 err="1"/>
              <a:t>DevOrigin</a:t>
            </a:r>
            <a:endParaRPr lang="en-IN" sz="11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409" rIns="0" bIns="0" rtlCol="0">
            <a:spAutoFit/>
          </a:bodyPr>
          <a:lstStyle/>
          <a:p>
            <a:pPr marL="880110">
              <a:lnSpc>
                <a:spcPct val="100000"/>
              </a:lnSpc>
              <a:spcBef>
                <a:spcPts val="110"/>
              </a:spcBef>
            </a:pPr>
            <a:r>
              <a:rPr dirty="0"/>
              <a:t>TECHNICAL</a:t>
            </a:r>
            <a:r>
              <a:rPr spc="-11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4800" y="597467"/>
            <a:ext cx="6318504" cy="39222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rtl="0"/>
            <a:r>
              <a:rPr lang="en-IN" sz="1600" b="1" dirty="0"/>
              <a:t>TECHNOLOGIES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Frontend:</a:t>
            </a:r>
            <a:r>
              <a:rPr lang="en-IN" sz="1400" dirty="0"/>
              <a:t> React.js, Next.js, Tailwind CSS, Recharts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Backend:</a:t>
            </a:r>
            <a:r>
              <a:rPr lang="en-IN" sz="1400" dirty="0"/>
              <a:t> </a:t>
            </a:r>
            <a:r>
              <a:rPr lang="en-IN" sz="1400" dirty="0" err="1"/>
              <a:t>FastAPI</a:t>
            </a:r>
            <a:r>
              <a:rPr lang="en-IN" sz="1400" dirty="0"/>
              <a:t>, REST API, microservices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Retrieval:</a:t>
            </a:r>
            <a:r>
              <a:rPr lang="en-IN" sz="1400" dirty="0"/>
              <a:t> BM25 + </a:t>
            </a:r>
            <a:r>
              <a:rPr lang="en-IN" sz="1400" dirty="0" err="1"/>
              <a:t>bge</a:t>
            </a:r>
            <a:r>
              <a:rPr lang="en-IN" sz="1400" dirty="0"/>
              <a:t> embeddings, cross-encoder re-ranker, </a:t>
            </a:r>
            <a:r>
              <a:rPr lang="en-IN" sz="1400" dirty="0" err="1"/>
              <a:t>IndicBERT</a:t>
            </a: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LLM:</a:t>
            </a:r>
            <a:r>
              <a:rPr lang="en-IN" sz="1400" dirty="0"/>
              <a:t> Gemini API / open-weight models (clause drafting only)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Knowledge graph:</a:t>
            </a:r>
            <a:r>
              <a:rPr lang="en-IN" sz="1400" dirty="0"/>
              <a:t> </a:t>
            </a:r>
            <a:r>
              <a:rPr lang="en-IN" sz="1400" dirty="0" err="1"/>
              <a:t>NetworkX</a:t>
            </a:r>
            <a:r>
              <a:rPr lang="en-IN" sz="1400" dirty="0"/>
              <a:t> (prototype), Neo4j (production)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Multilingual:</a:t>
            </a:r>
            <a:r>
              <a:rPr lang="en-IN" sz="1400" dirty="0"/>
              <a:t> IndicTrans2 / Bhashini API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Storage:</a:t>
            </a:r>
            <a:r>
              <a:rPr lang="en-IN" sz="1400" dirty="0"/>
              <a:t> PostgreSQL, </a:t>
            </a:r>
            <a:r>
              <a:rPr lang="en-IN" sz="1400" dirty="0" err="1"/>
              <a:t>Qdrant</a:t>
            </a:r>
            <a:r>
              <a:rPr lang="en-IN" sz="1400" dirty="0"/>
              <a:t>/FAISS, Redis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Cloud:</a:t>
            </a:r>
            <a:r>
              <a:rPr lang="en-IN" sz="1400" dirty="0"/>
              <a:t> Docker, GitHub Actions, AWS/Render, Nginx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Testing:</a:t>
            </a:r>
            <a:r>
              <a:rPr lang="en-IN" sz="1400" dirty="0"/>
              <a:t> </a:t>
            </a:r>
            <a:r>
              <a:rPr lang="en-IN" sz="1400" dirty="0" err="1"/>
              <a:t>pytest</a:t>
            </a:r>
            <a:r>
              <a:rPr lang="en-IN" sz="1400" dirty="0"/>
              <a:t>, Jest — NDCG@5, Recall@3</a:t>
            </a:r>
          </a:p>
        </p:txBody>
      </p:sp>
      <p:sp>
        <p:nvSpPr>
          <p:cNvPr id="6" name="object 6"/>
          <p:cNvSpPr/>
          <p:nvPr/>
        </p:nvSpPr>
        <p:spPr>
          <a:xfrm>
            <a:off x="124968" y="91439"/>
            <a:ext cx="1274445" cy="481965"/>
          </a:xfrm>
          <a:custGeom>
            <a:avLst/>
            <a:gdLst/>
            <a:ahLst/>
            <a:cxnLst/>
            <a:rect l="l" t="t" r="r" b="b"/>
            <a:pathLst>
              <a:path w="1274445" h="481965">
                <a:moveTo>
                  <a:pt x="0" y="240791"/>
                </a:moveTo>
                <a:lnTo>
                  <a:pt x="12942" y="192268"/>
                </a:lnTo>
                <a:lnTo>
                  <a:pt x="50060" y="147071"/>
                </a:lnTo>
                <a:lnTo>
                  <a:pt x="108793" y="106170"/>
                </a:lnTo>
                <a:lnTo>
                  <a:pt x="145465" y="87632"/>
                </a:lnTo>
                <a:lnTo>
                  <a:pt x="186580" y="70532"/>
                </a:lnTo>
                <a:lnTo>
                  <a:pt x="231818" y="54990"/>
                </a:lnTo>
                <a:lnTo>
                  <a:pt x="280859" y="41127"/>
                </a:lnTo>
                <a:lnTo>
                  <a:pt x="333382" y="29065"/>
                </a:lnTo>
                <a:lnTo>
                  <a:pt x="389068" y="18924"/>
                </a:lnTo>
                <a:lnTo>
                  <a:pt x="447596" y="10826"/>
                </a:lnTo>
                <a:lnTo>
                  <a:pt x="508646" y="4892"/>
                </a:lnTo>
                <a:lnTo>
                  <a:pt x="571898" y="1243"/>
                </a:lnTo>
                <a:lnTo>
                  <a:pt x="637032" y="0"/>
                </a:lnTo>
                <a:lnTo>
                  <a:pt x="702165" y="1243"/>
                </a:lnTo>
                <a:lnTo>
                  <a:pt x="765417" y="4892"/>
                </a:lnTo>
                <a:lnTo>
                  <a:pt x="826467" y="10826"/>
                </a:lnTo>
                <a:lnTo>
                  <a:pt x="884995" y="18924"/>
                </a:lnTo>
                <a:lnTo>
                  <a:pt x="940681" y="29065"/>
                </a:lnTo>
                <a:lnTo>
                  <a:pt x="993204" y="41127"/>
                </a:lnTo>
                <a:lnTo>
                  <a:pt x="1042245" y="54990"/>
                </a:lnTo>
                <a:lnTo>
                  <a:pt x="1087483" y="70532"/>
                </a:lnTo>
                <a:lnTo>
                  <a:pt x="1128598" y="87632"/>
                </a:lnTo>
                <a:lnTo>
                  <a:pt x="1165270" y="106170"/>
                </a:lnTo>
                <a:lnTo>
                  <a:pt x="1224003" y="147071"/>
                </a:lnTo>
                <a:lnTo>
                  <a:pt x="1261121" y="192268"/>
                </a:lnTo>
                <a:lnTo>
                  <a:pt x="1274064" y="240791"/>
                </a:lnTo>
                <a:lnTo>
                  <a:pt x="1270775" y="265408"/>
                </a:lnTo>
                <a:lnTo>
                  <a:pt x="1245424" y="312389"/>
                </a:lnTo>
                <a:lnTo>
                  <a:pt x="1197178" y="355560"/>
                </a:lnTo>
                <a:lnTo>
                  <a:pt x="1128598" y="393951"/>
                </a:lnTo>
                <a:lnTo>
                  <a:pt x="1087483" y="411051"/>
                </a:lnTo>
                <a:lnTo>
                  <a:pt x="1042245" y="426593"/>
                </a:lnTo>
                <a:lnTo>
                  <a:pt x="993204" y="440456"/>
                </a:lnTo>
                <a:lnTo>
                  <a:pt x="940681" y="452518"/>
                </a:lnTo>
                <a:lnTo>
                  <a:pt x="884995" y="462659"/>
                </a:lnTo>
                <a:lnTo>
                  <a:pt x="826467" y="470757"/>
                </a:lnTo>
                <a:lnTo>
                  <a:pt x="765417" y="476691"/>
                </a:lnTo>
                <a:lnTo>
                  <a:pt x="702165" y="480340"/>
                </a:lnTo>
                <a:lnTo>
                  <a:pt x="637032" y="481583"/>
                </a:lnTo>
                <a:lnTo>
                  <a:pt x="571898" y="480340"/>
                </a:lnTo>
                <a:lnTo>
                  <a:pt x="508646" y="476691"/>
                </a:lnTo>
                <a:lnTo>
                  <a:pt x="447596" y="470757"/>
                </a:lnTo>
                <a:lnTo>
                  <a:pt x="389068" y="462659"/>
                </a:lnTo>
                <a:lnTo>
                  <a:pt x="333382" y="452518"/>
                </a:lnTo>
                <a:lnTo>
                  <a:pt x="280859" y="440456"/>
                </a:lnTo>
                <a:lnTo>
                  <a:pt x="231818" y="426593"/>
                </a:lnTo>
                <a:lnTo>
                  <a:pt x="186580" y="411051"/>
                </a:lnTo>
                <a:lnTo>
                  <a:pt x="145465" y="393951"/>
                </a:lnTo>
                <a:lnTo>
                  <a:pt x="108793" y="375413"/>
                </a:lnTo>
                <a:lnTo>
                  <a:pt x="50060" y="334512"/>
                </a:lnTo>
                <a:lnTo>
                  <a:pt x="12942" y="289315"/>
                </a:lnTo>
                <a:lnTo>
                  <a:pt x="0" y="240791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7865" y="225678"/>
            <a:ext cx="72644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100" b="1" dirty="0" err="1">
                <a:latin typeface="Calibri"/>
                <a:cs typeface="Calibri"/>
              </a:rPr>
              <a:t>DevOrigin</a:t>
            </a:r>
            <a:endParaRPr sz="1100" b="1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3719" y="0"/>
            <a:ext cx="1313687" cy="6400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651241-1918-7394-33DD-C3175C789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675030"/>
            <a:ext cx="5302473" cy="2091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45BE07-49E8-EFB8-35A2-099F5F5475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008" y="597467"/>
            <a:ext cx="4670777" cy="6255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5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FEASIBILITY</a:t>
            </a:r>
            <a:r>
              <a:rPr spc="-90" dirty="0"/>
              <a:t> </a:t>
            </a:r>
            <a:r>
              <a:rPr dirty="0"/>
              <a:t>AND</a:t>
            </a:r>
            <a:r>
              <a:rPr spc="-10" dirty="0"/>
              <a:t> VIABILITY</a:t>
            </a:r>
          </a:p>
        </p:txBody>
      </p:sp>
      <p:sp>
        <p:nvSpPr>
          <p:cNvPr id="4" name="object 4"/>
          <p:cNvSpPr/>
          <p:nvPr/>
        </p:nvSpPr>
        <p:spPr>
          <a:xfrm>
            <a:off x="121920" y="100584"/>
            <a:ext cx="1365885" cy="487680"/>
          </a:xfrm>
          <a:custGeom>
            <a:avLst/>
            <a:gdLst/>
            <a:ahLst/>
            <a:cxnLst/>
            <a:rect l="l" t="t" r="r" b="b"/>
            <a:pathLst>
              <a:path w="1365885" h="487680">
                <a:moveTo>
                  <a:pt x="0" y="243840"/>
                </a:moveTo>
                <a:lnTo>
                  <a:pt x="13871" y="194711"/>
                </a:lnTo>
                <a:lnTo>
                  <a:pt x="53653" y="148947"/>
                </a:lnTo>
                <a:lnTo>
                  <a:pt x="116602" y="107528"/>
                </a:lnTo>
                <a:lnTo>
                  <a:pt x="155906" y="88755"/>
                </a:lnTo>
                <a:lnTo>
                  <a:pt x="199972" y="71437"/>
                </a:lnTo>
                <a:lnTo>
                  <a:pt x="248457" y="55697"/>
                </a:lnTo>
                <a:lnTo>
                  <a:pt x="301017" y="41656"/>
                </a:lnTo>
                <a:lnTo>
                  <a:pt x="357310" y="29440"/>
                </a:lnTo>
                <a:lnTo>
                  <a:pt x="416993" y="19169"/>
                </a:lnTo>
                <a:lnTo>
                  <a:pt x="479721" y="10966"/>
                </a:lnTo>
                <a:lnTo>
                  <a:pt x="545153" y="4955"/>
                </a:lnTo>
                <a:lnTo>
                  <a:pt x="612944" y="1259"/>
                </a:lnTo>
                <a:lnTo>
                  <a:pt x="682752" y="0"/>
                </a:lnTo>
                <a:lnTo>
                  <a:pt x="752559" y="1259"/>
                </a:lnTo>
                <a:lnTo>
                  <a:pt x="820350" y="4955"/>
                </a:lnTo>
                <a:lnTo>
                  <a:pt x="885782" y="10966"/>
                </a:lnTo>
                <a:lnTo>
                  <a:pt x="948510" y="19169"/>
                </a:lnTo>
                <a:lnTo>
                  <a:pt x="1008193" y="29440"/>
                </a:lnTo>
                <a:lnTo>
                  <a:pt x="1064486" y="41656"/>
                </a:lnTo>
                <a:lnTo>
                  <a:pt x="1117046" y="55697"/>
                </a:lnTo>
                <a:lnTo>
                  <a:pt x="1165531" y="71437"/>
                </a:lnTo>
                <a:lnTo>
                  <a:pt x="1209597" y="88755"/>
                </a:lnTo>
                <a:lnTo>
                  <a:pt x="1248901" y="107528"/>
                </a:lnTo>
                <a:lnTo>
                  <a:pt x="1283099" y="127633"/>
                </a:lnTo>
                <a:lnTo>
                  <a:pt x="1334809" y="171347"/>
                </a:lnTo>
                <a:lnTo>
                  <a:pt x="1361979" y="218916"/>
                </a:lnTo>
                <a:lnTo>
                  <a:pt x="1365504" y="243840"/>
                </a:lnTo>
                <a:lnTo>
                  <a:pt x="1361979" y="268763"/>
                </a:lnTo>
                <a:lnTo>
                  <a:pt x="1334809" y="316332"/>
                </a:lnTo>
                <a:lnTo>
                  <a:pt x="1283099" y="360046"/>
                </a:lnTo>
                <a:lnTo>
                  <a:pt x="1248901" y="380151"/>
                </a:lnTo>
                <a:lnTo>
                  <a:pt x="1209597" y="398924"/>
                </a:lnTo>
                <a:lnTo>
                  <a:pt x="1165531" y="416242"/>
                </a:lnTo>
                <a:lnTo>
                  <a:pt x="1117046" y="431982"/>
                </a:lnTo>
                <a:lnTo>
                  <a:pt x="1064486" y="446023"/>
                </a:lnTo>
                <a:lnTo>
                  <a:pt x="1008193" y="458239"/>
                </a:lnTo>
                <a:lnTo>
                  <a:pt x="948510" y="468510"/>
                </a:lnTo>
                <a:lnTo>
                  <a:pt x="885782" y="476713"/>
                </a:lnTo>
                <a:lnTo>
                  <a:pt x="820350" y="482724"/>
                </a:lnTo>
                <a:lnTo>
                  <a:pt x="752559" y="486420"/>
                </a:lnTo>
                <a:lnTo>
                  <a:pt x="682752" y="487680"/>
                </a:lnTo>
                <a:lnTo>
                  <a:pt x="612944" y="486420"/>
                </a:lnTo>
                <a:lnTo>
                  <a:pt x="545153" y="482724"/>
                </a:lnTo>
                <a:lnTo>
                  <a:pt x="479721" y="476713"/>
                </a:lnTo>
                <a:lnTo>
                  <a:pt x="416993" y="468510"/>
                </a:lnTo>
                <a:lnTo>
                  <a:pt x="357310" y="458239"/>
                </a:lnTo>
                <a:lnTo>
                  <a:pt x="301017" y="446023"/>
                </a:lnTo>
                <a:lnTo>
                  <a:pt x="248457" y="431982"/>
                </a:lnTo>
                <a:lnTo>
                  <a:pt x="199972" y="416242"/>
                </a:lnTo>
                <a:lnTo>
                  <a:pt x="155906" y="398924"/>
                </a:lnTo>
                <a:lnTo>
                  <a:pt x="116602" y="380151"/>
                </a:lnTo>
                <a:lnTo>
                  <a:pt x="82404" y="360046"/>
                </a:lnTo>
                <a:lnTo>
                  <a:pt x="30694" y="316332"/>
                </a:lnTo>
                <a:lnTo>
                  <a:pt x="3524" y="268763"/>
                </a:lnTo>
                <a:lnTo>
                  <a:pt x="0" y="243840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0842" y="237489"/>
            <a:ext cx="72644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100" b="1" spc="-10" dirty="0" err="1">
                <a:latin typeface="Calibri"/>
                <a:cs typeface="Calibri"/>
              </a:rPr>
              <a:t>DevOrigin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6688" y="0"/>
            <a:ext cx="1953768" cy="104241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5323" y="774319"/>
            <a:ext cx="4595495" cy="51841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Practical:</a:t>
            </a:r>
            <a:r>
              <a:rPr lang="en-IN" sz="1400" dirty="0"/>
              <a:t> proven open-source tech; prototype covers 3 domains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Data available:</a:t>
            </a:r>
            <a:r>
              <a:rPr lang="en-IN" sz="1400" dirty="0"/>
              <a:t> BIS catalogue, amendments, gazette links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Reliable:</a:t>
            </a:r>
            <a:r>
              <a:rPr lang="en-IN" sz="1400" dirty="0"/>
              <a:t> checked against catalogue/graph, not model memory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Fits workflow:</a:t>
            </a:r>
            <a:r>
              <a:rPr lang="en-IN" sz="1400" dirty="0"/>
              <a:t> API inside </a:t>
            </a:r>
            <a:r>
              <a:rPr lang="en-IN" sz="1400" dirty="0" err="1"/>
              <a:t>GeM</a:t>
            </a:r>
            <a:r>
              <a:rPr lang="en-IN" sz="1400" dirty="0"/>
              <a:t>/CPPP — no new portal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Measurable:</a:t>
            </a:r>
            <a:r>
              <a:rPr lang="en-IN" sz="1400" dirty="0"/>
              <a:t> NDCG@5 ≥ 0.88, Recall@3 ≥ 0.95 (target)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Potential challenges → how we handle them:</a:t>
            </a: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dirty="0"/>
              <a:t>Invented/mis-cited standard → </a:t>
            </a:r>
            <a:r>
              <a:rPr lang="en-IN" sz="1400" b="1" dirty="0"/>
              <a:t>graph-constrained generation + catalogue validation</a:t>
            </a: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dirty="0"/>
              <a:t>QCO/edition changes → </a:t>
            </a:r>
            <a:r>
              <a:rPr lang="en-IN" sz="1400" b="1" dirty="0"/>
              <a:t>weekly sync, dated status, live re-check</a:t>
            </a: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dirty="0"/>
              <a:t>Standard text not open → </a:t>
            </a:r>
            <a:r>
              <a:rPr lang="en-IN" sz="1400" b="1" dirty="0"/>
              <a:t>viewable standards + BIS data-sharing</a:t>
            </a: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dirty="0"/>
              <a:t>Vague input → </a:t>
            </a:r>
            <a:r>
              <a:rPr lang="en-IN" sz="1400" b="1" dirty="0"/>
              <a:t>low-confidence flag, clarifying questions</a:t>
            </a: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dirty="0"/>
              <a:t>Translation errors → </a:t>
            </a:r>
            <a:r>
              <a:rPr lang="en-IN" sz="1400" b="1" dirty="0"/>
              <a:t>IS codes/units protected</a:t>
            </a: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dirty="0"/>
              <a:t>Over-reliance → </a:t>
            </a:r>
            <a:r>
              <a:rPr lang="en-IN" sz="1400" b="1" dirty="0"/>
              <a:t>draft only, officer confirms, audit log</a:t>
            </a:r>
            <a:endParaRPr lang="en-IN" sz="14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400" dirty="0"/>
              <a:t>Safe uncertainty handling: unclear cases marked </a:t>
            </a:r>
            <a:r>
              <a:rPr lang="en-IN" sz="1400" b="1" dirty="0"/>
              <a:t>"Needs human review."</a:t>
            </a: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62056-AA0A-A80A-E2DA-4EF058DF1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143000"/>
            <a:ext cx="6205483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49" rIns="0" bIns="0" rtlCol="0">
            <a:spAutoFit/>
          </a:bodyPr>
          <a:lstStyle/>
          <a:p>
            <a:pPr marL="641985">
              <a:lnSpc>
                <a:spcPct val="100000"/>
              </a:lnSpc>
              <a:spcBef>
                <a:spcPts val="110"/>
              </a:spcBef>
            </a:pPr>
            <a:r>
              <a:rPr dirty="0"/>
              <a:t>IMPACT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227" y="966673"/>
            <a:ext cx="4757420" cy="53982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rtl="0"/>
            <a:r>
              <a:rPr lang="en-IN" sz="1400" b="1" dirty="0"/>
              <a:t>            </a:t>
            </a:r>
            <a:r>
              <a:rPr lang="en-IN" sz="1400" b="1" u="sng" dirty="0"/>
              <a:t>Impact on target audience: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Procurement/tender-drafting officers</a:t>
            </a:r>
            <a:r>
              <a:rPr lang="en-IN" sz="1400" dirty="0"/>
              <a:t> (departments, PSUs, PWDs, Railways, Defence): write correct, current, complete specifications for items outside their expertise, faster.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MSMEs and bidders:</a:t>
            </a:r>
            <a:r>
              <a:rPr lang="en-IN" sz="1400" dirty="0"/>
              <a:t> see which standard/certification a tender expects in plain language, avoiding disqualification from confusing foreign vs. Indian standards. MSEs receive </a:t>
            </a:r>
            <a:r>
              <a:rPr lang="en-IN" sz="1400" b="1" dirty="0"/>
              <a:t>68% of </a:t>
            </a:r>
            <a:r>
              <a:rPr lang="en-IN" sz="1400" b="1" dirty="0" err="1"/>
              <a:t>GeM</a:t>
            </a:r>
            <a:r>
              <a:rPr lang="en-IN" sz="1400" b="1" dirty="0"/>
              <a:t> orders (FY26)</a:t>
            </a:r>
            <a:r>
              <a:rPr lang="en-IN" sz="1400" dirty="0"/>
              <a:t>.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 err="1"/>
              <a:t>GeM</a:t>
            </a:r>
            <a:r>
              <a:rPr lang="en-IN" sz="1400" b="1" dirty="0"/>
              <a:t> category managers/catalogue teams:</a:t>
            </a:r>
            <a:r>
              <a:rPr lang="en-IN" sz="1400" dirty="0"/>
              <a:t> get standards linked to categories and can spot tenders citing outdated/mismatched standards.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Vigilance officers and auditors:</a:t>
            </a:r>
            <a:r>
              <a:rPr lang="en-IN" sz="1400" dirty="0"/>
              <a:t> get an evidence trail and version history for why each standard was specified.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BIS and regulators:</a:t>
            </a:r>
            <a:r>
              <a:rPr lang="en-IN" sz="1400" dirty="0"/>
              <a:t> see wider, correct use of Indian Standards and QCO requirements in public buying.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IN" sz="1400" b="1" dirty="0"/>
              <a:t>End users/citizens:</a:t>
            </a:r>
            <a:r>
              <a:rPr lang="en-IN" sz="1400" dirty="0"/>
              <a:t> benefit from safer infrastructure and products since required tests/certifications reach the tender.</a:t>
            </a:r>
          </a:p>
        </p:txBody>
      </p:sp>
      <p:sp>
        <p:nvSpPr>
          <p:cNvPr id="4" name="object 4"/>
          <p:cNvSpPr/>
          <p:nvPr/>
        </p:nvSpPr>
        <p:spPr>
          <a:xfrm>
            <a:off x="121920" y="94488"/>
            <a:ext cx="1341120" cy="469900"/>
          </a:xfrm>
          <a:custGeom>
            <a:avLst/>
            <a:gdLst/>
            <a:ahLst/>
            <a:cxnLst/>
            <a:rect l="l" t="t" r="r" b="b"/>
            <a:pathLst>
              <a:path w="1341120" h="469900">
                <a:moveTo>
                  <a:pt x="0" y="234695"/>
                </a:moveTo>
                <a:lnTo>
                  <a:pt x="13623" y="187382"/>
                </a:lnTo>
                <a:lnTo>
                  <a:pt x="52695" y="143321"/>
                </a:lnTo>
                <a:lnTo>
                  <a:pt x="114519" y="103454"/>
                </a:lnTo>
                <a:lnTo>
                  <a:pt x="153121" y="85387"/>
                </a:lnTo>
                <a:lnTo>
                  <a:pt x="196400" y="68722"/>
                </a:lnTo>
                <a:lnTo>
                  <a:pt x="244019" y="53577"/>
                </a:lnTo>
                <a:lnTo>
                  <a:pt x="295641" y="40069"/>
                </a:lnTo>
                <a:lnTo>
                  <a:pt x="350929" y="28316"/>
                </a:lnTo>
                <a:lnTo>
                  <a:pt x="409545" y="18436"/>
                </a:lnTo>
                <a:lnTo>
                  <a:pt x="471154" y="10547"/>
                </a:lnTo>
                <a:lnTo>
                  <a:pt x="535417" y="4766"/>
                </a:lnTo>
                <a:lnTo>
                  <a:pt x="601998" y="1211"/>
                </a:lnTo>
                <a:lnTo>
                  <a:pt x="670560" y="0"/>
                </a:lnTo>
                <a:lnTo>
                  <a:pt x="739121" y="1211"/>
                </a:lnTo>
                <a:lnTo>
                  <a:pt x="805702" y="4766"/>
                </a:lnTo>
                <a:lnTo>
                  <a:pt x="869965" y="10547"/>
                </a:lnTo>
                <a:lnTo>
                  <a:pt x="931574" y="18436"/>
                </a:lnTo>
                <a:lnTo>
                  <a:pt x="990190" y="28316"/>
                </a:lnTo>
                <a:lnTo>
                  <a:pt x="1045478" y="40069"/>
                </a:lnTo>
                <a:lnTo>
                  <a:pt x="1097100" y="53577"/>
                </a:lnTo>
                <a:lnTo>
                  <a:pt x="1144719" y="68722"/>
                </a:lnTo>
                <a:lnTo>
                  <a:pt x="1187998" y="85387"/>
                </a:lnTo>
                <a:lnTo>
                  <a:pt x="1226600" y="103454"/>
                </a:lnTo>
                <a:lnTo>
                  <a:pt x="1260187" y="122804"/>
                </a:lnTo>
                <a:lnTo>
                  <a:pt x="1310973" y="164886"/>
                </a:lnTo>
                <a:lnTo>
                  <a:pt x="1337658" y="210691"/>
                </a:lnTo>
                <a:lnTo>
                  <a:pt x="1341120" y="234695"/>
                </a:lnTo>
                <a:lnTo>
                  <a:pt x="1337658" y="258700"/>
                </a:lnTo>
                <a:lnTo>
                  <a:pt x="1310973" y="304505"/>
                </a:lnTo>
                <a:lnTo>
                  <a:pt x="1260187" y="346587"/>
                </a:lnTo>
                <a:lnTo>
                  <a:pt x="1226600" y="365937"/>
                </a:lnTo>
                <a:lnTo>
                  <a:pt x="1187998" y="384004"/>
                </a:lnTo>
                <a:lnTo>
                  <a:pt x="1144719" y="400669"/>
                </a:lnTo>
                <a:lnTo>
                  <a:pt x="1097100" y="415814"/>
                </a:lnTo>
                <a:lnTo>
                  <a:pt x="1045478" y="429322"/>
                </a:lnTo>
                <a:lnTo>
                  <a:pt x="990190" y="441075"/>
                </a:lnTo>
                <a:lnTo>
                  <a:pt x="931574" y="450955"/>
                </a:lnTo>
                <a:lnTo>
                  <a:pt x="869965" y="458844"/>
                </a:lnTo>
                <a:lnTo>
                  <a:pt x="805702" y="464625"/>
                </a:lnTo>
                <a:lnTo>
                  <a:pt x="739121" y="468180"/>
                </a:lnTo>
                <a:lnTo>
                  <a:pt x="670560" y="469391"/>
                </a:lnTo>
                <a:lnTo>
                  <a:pt x="601998" y="468180"/>
                </a:lnTo>
                <a:lnTo>
                  <a:pt x="535417" y="464625"/>
                </a:lnTo>
                <a:lnTo>
                  <a:pt x="471154" y="458844"/>
                </a:lnTo>
                <a:lnTo>
                  <a:pt x="409545" y="450955"/>
                </a:lnTo>
                <a:lnTo>
                  <a:pt x="350929" y="441075"/>
                </a:lnTo>
                <a:lnTo>
                  <a:pt x="295641" y="429322"/>
                </a:lnTo>
                <a:lnTo>
                  <a:pt x="244019" y="415814"/>
                </a:lnTo>
                <a:lnTo>
                  <a:pt x="196400" y="400669"/>
                </a:lnTo>
                <a:lnTo>
                  <a:pt x="153121" y="384004"/>
                </a:lnTo>
                <a:lnTo>
                  <a:pt x="114519" y="365937"/>
                </a:lnTo>
                <a:lnTo>
                  <a:pt x="80932" y="346587"/>
                </a:lnTo>
                <a:lnTo>
                  <a:pt x="30146" y="304505"/>
                </a:lnTo>
                <a:lnTo>
                  <a:pt x="3461" y="258700"/>
                </a:lnTo>
                <a:lnTo>
                  <a:pt x="0" y="234695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9057" y="230516"/>
            <a:ext cx="72644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100" b="1" spc="-10" dirty="0" err="1">
                <a:latin typeface="Calibri"/>
                <a:cs typeface="Calibri"/>
              </a:rPr>
              <a:t>DevOrigin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509" y="177252"/>
            <a:ext cx="2007387" cy="8555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727329" y="686106"/>
            <a:ext cx="156845" cy="6087745"/>
            <a:chOff x="5727329" y="686106"/>
            <a:chExt cx="156845" cy="60877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7329" y="686106"/>
              <a:ext cx="156613" cy="60871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66815" y="701040"/>
              <a:ext cx="74295" cy="6019165"/>
            </a:xfrm>
            <a:custGeom>
              <a:avLst/>
              <a:gdLst/>
              <a:ahLst/>
              <a:cxnLst/>
              <a:rect l="l" t="t" r="r" b="b"/>
              <a:pathLst>
                <a:path w="74295" h="6019165">
                  <a:moveTo>
                    <a:pt x="0" y="0"/>
                  </a:moveTo>
                  <a:lnTo>
                    <a:pt x="73913" y="6019114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9801" y="701040"/>
            <a:ext cx="5410200" cy="6045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en-IN" sz="1400" b="1" dirty="0"/>
              <a:t>    	</a:t>
            </a:r>
            <a:r>
              <a:rPr lang="en-IN" sz="1400" b="1" u="sng" dirty="0"/>
              <a:t>Benefits of the solution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Social:</a:t>
            </a:r>
            <a:r>
              <a:rPr lang="en-IN" sz="1400" dirty="0"/>
              <a:t> safer buildings/products (no missed test methods/certification); regional-language access for local bodies.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Economic:</a:t>
            </a:r>
            <a:r>
              <a:rPr lang="en-IN" sz="1400" dirty="0"/>
              <a:t> fewer tender disputes/re-tendering from incomplete specs; fairer competition via generic, brand-neutral clauses; easier MSME participation.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Environmental:</a:t>
            </a:r>
            <a:r>
              <a:rPr lang="en-IN" sz="1400" dirty="0"/>
              <a:t> less rework and rejected material when right standards are specified upfront (expected effect; to be measured).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Evidence-based recommendations instead of guesswork or copied templates.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Explains reasoning with clause-level evidence and a confidence score.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Always current: latest edition, amendments, and dated QCO status.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Saves time: one query replaces manual cross-referencing across standards, tests, and certification lists.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Complete: normative and allied standards included, so specs aren't left half-finished.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Transparent: audit log and printable justification note for the tender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32938" y="58038"/>
            <a:ext cx="48380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32305" algn="l"/>
              </a:tabLst>
            </a:pPr>
            <a:r>
              <a:rPr sz="2500" spc="-10" dirty="0"/>
              <a:t>RESEARCH</a:t>
            </a:r>
            <a:r>
              <a:rPr sz="2500" dirty="0"/>
              <a:t>	AND</a:t>
            </a:r>
            <a:r>
              <a:rPr sz="2500" spc="-15" dirty="0"/>
              <a:t> </a:t>
            </a:r>
            <a:r>
              <a:rPr sz="2500" spc="-10" dirty="0"/>
              <a:t>REFERENCES</a:t>
            </a:r>
            <a:endParaRPr sz="2500"/>
          </a:p>
        </p:txBody>
      </p:sp>
      <p:sp>
        <p:nvSpPr>
          <p:cNvPr id="3" name="object 3"/>
          <p:cNvSpPr/>
          <p:nvPr/>
        </p:nvSpPr>
        <p:spPr>
          <a:xfrm>
            <a:off x="124968" y="57911"/>
            <a:ext cx="1310640" cy="497205"/>
          </a:xfrm>
          <a:custGeom>
            <a:avLst/>
            <a:gdLst/>
            <a:ahLst/>
            <a:cxnLst/>
            <a:rect l="l" t="t" r="r" b="b"/>
            <a:pathLst>
              <a:path w="1310640" h="497205">
                <a:moveTo>
                  <a:pt x="0" y="248412"/>
                </a:moveTo>
                <a:lnTo>
                  <a:pt x="13313" y="198358"/>
                </a:lnTo>
                <a:lnTo>
                  <a:pt x="51498" y="151733"/>
                </a:lnTo>
                <a:lnTo>
                  <a:pt x="111918" y="109537"/>
                </a:lnTo>
                <a:lnTo>
                  <a:pt x="149642" y="90413"/>
                </a:lnTo>
                <a:lnTo>
                  <a:pt x="191938" y="72771"/>
                </a:lnTo>
                <a:lnTo>
                  <a:pt x="238475" y="56736"/>
                </a:lnTo>
                <a:lnTo>
                  <a:pt x="288923" y="42433"/>
                </a:lnTo>
                <a:lnTo>
                  <a:pt x="342954" y="29988"/>
                </a:lnTo>
                <a:lnTo>
                  <a:pt x="400239" y="19526"/>
                </a:lnTo>
                <a:lnTo>
                  <a:pt x="460447" y="11171"/>
                </a:lnTo>
                <a:lnTo>
                  <a:pt x="523249" y="5048"/>
                </a:lnTo>
                <a:lnTo>
                  <a:pt x="588317" y="1282"/>
                </a:lnTo>
                <a:lnTo>
                  <a:pt x="655319" y="0"/>
                </a:lnTo>
                <a:lnTo>
                  <a:pt x="722322" y="1282"/>
                </a:lnTo>
                <a:lnTo>
                  <a:pt x="787390" y="5048"/>
                </a:lnTo>
                <a:lnTo>
                  <a:pt x="850192" y="11171"/>
                </a:lnTo>
                <a:lnTo>
                  <a:pt x="910400" y="19526"/>
                </a:lnTo>
                <a:lnTo>
                  <a:pt x="967685" y="29988"/>
                </a:lnTo>
                <a:lnTo>
                  <a:pt x="1021716" y="42433"/>
                </a:lnTo>
                <a:lnTo>
                  <a:pt x="1072164" y="56736"/>
                </a:lnTo>
                <a:lnTo>
                  <a:pt x="1118701" y="72771"/>
                </a:lnTo>
                <a:lnTo>
                  <a:pt x="1160997" y="90413"/>
                </a:lnTo>
                <a:lnTo>
                  <a:pt x="1198721" y="109537"/>
                </a:lnTo>
                <a:lnTo>
                  <a:pt x="1231546" y="130019"/>
                </a:lnTo>
                <a:lnTo>
                  <a:pt x="1281178" y="174554"/>
                </a:lnTo>
                <a:lnTo>
                  <a:pt x="1307256" y="223018"/>
                </a:lnTo>
                <a:lnTo>
                  <a:pt x="1310640" y="248412"/>
                </a:lnTo>
                <a:lnTo>
                  <a:pt x="1307256" y="273805"/>
                </a:lnTo>
                <a:lnTo>
                  <a:pt x="1281178" y="322269"/>
                </a:lnTo>
                <a:lnTo>
                  <a:pt x="1231546" y="366804"/>
                </a:lnTo>
                <a:lnTo>
                  <a:pt x="1198721" y="387286"/>
                </a:lnTo>
                <a:lnTo>
                  <a:pt x="1160997" y="406410"/>
                </a:lnTo>
                <a:lnTo>
                  <a:pt x="1118701" y="424053"/>
                </a:lnTo>
                <a:lnTo>
                  <a:pt x="1072164" y="440087"/>
                </a:lnTo>
                <a:lnTo>
                  <a:pt x="1021716" y="454390"/>
                </a:lnTo>
                <a:lnTo>
                  <a:pt x="967685" y="466835"/>
                </a:lnTo>
                <a:lnTo>
                  <a:pt x="910400" y="477297"/>
                </a:lnTo>
                <a:lnTo>
                  <a:pt x="850192" y="485652"/>
                </a:lnTo>
                <a:lnTo>
                  <a:pt x="787390" y="491775"/>
                </a:lnTo>
                <a:lnTo>
                  <a:pt x="722322" y="495541"/>
                </a:lnTo>
                <a:lnTo>
                  <a:pt x="655319" y="496824"/>
                </a:lnTo>
                <a:lnTo>
                  <a:pt x="588317" y="495541"/>
                </a:lnTo>
                <a:lnTo>
                  <a:pt x="523249" y="491775"/>
                </a:lnTo>
                <a:lnTo>
                  <a:pt x="460447" y="485652"/>
                </a:lnTo>
                <a:lnTo>
                  <a:pt x="400239" y="477297"/>
                </a:lnTo>
                <a:lnTo>
                  <a:pt x="342954" y="466835"/>
                </a:lnTo>
                <a:lnTo>
                  <a:pt x="288923" y="454390"/>
                </a:lnTo>
                <a:lnTo>
                  <a:pt x="238475" y="440087"/>
                </a:lnTo>
                <a:lnTo>
                  <a:pt x="191938" y="424053"/>
                </a:lnTo>
                <a:lnTo>
                  <a:pt x="149642" y="406410"/>
                </a:lnTo>
                <a:lnTo>
                  <a:pt x="111918" y="387286"/>
                </a:lnTo>
                <a:lnTo>
                  <a:pt x="79093" y="366804"/>
                </a:lnTo>
                <a:lnTo>
                  <a:pt x="29461" y="322269"/>
                </a:lnTo>
                <a:lnTo>
                  <a:pt x="3383" y="273805"/>
                </a:lnTo>
                <a:lnTo>
                  <a:pt x="0" y="248412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982" y="200660"/>
            <a:ext cx="72644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100" b="1" spc="-10" dirty="0" err="1">
                <a:latin typeface="Calibri"/>
                <a:cs typeface="Calibri"/>
              </a:rPr>
              <a:t>DevOrigin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3370" y="9620"/>
            <a:ext cx="1876281" cy="90430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68195" y="564337"/>
            <a:ext cx="199898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Arial"/>
                <a:cs typeface="Arial"/>
              </a:rPr>
              <a:t>Research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References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304800" y="993039"/>
            <a:ext cx="5370880" cy="56137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Regulatory basis (GFR Rule 144): </a:t>
            </a:r>
            <a:r>
              <a:rPr lang="en-IN" b="0" dirty="0">
                <a:hlinkClick r:id="rId3"/>
              </a:rPr>
              <a:t>Manual for Procurement of Goods 2024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Standards and QCO data: </a:t>
            </a:r>
            <a:r>
              <a:rPr lang="en-IN" b="0" dirty="0">
                <a:hlinkClick r:id="rId4"/>
              </a:rPr>
              <a:t>PIB — 187 QCOs / 769 products; 22,689 standards in force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QCO changes over time: </a:t>
            </a:r>
            <a:r>
              <a:rPr lang="en-IN" b="0" dirty="0" err="1">
                <a:hlinkClick r:id="rId5"/>
              </a:rPr>
              <a:t>ThePrint</a:t>
            </a:r>
            <a:r>
              <a:rPr lang="en-IN" b="0" dirty="0">
                <a:hlinkClick r:id="rId5"/>
              </a:rPr>
              <a:t> — rollback of Quality Control Orders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Standards review cycle: </a:t>
            </a:r>
            <a:r>
              <a:rPr lang="en-IN" b="0" dirty="0">
                <a:hlinkClick r:id="rId6"/>
              </a:rPr>
              <a:t>BIS — process of setting standards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Worked example (IS 1786:2008): </a:t>
            </a:r>
            <a:r>
              <a:rPr lang="en-IN" b="0" dirty="0">
                <a:hlinkClick r:id="rId7"/>
              </a:rPr>
              <a:t>Test-method references in the standard's text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Lexical retrieval (BM25): </a:t>
            </a:r>
            <a:r>
              <a:rPr lang="en-IN" b="0" dirty="0">
                <a:hlinkClick r:id="rId8"/>
              </a:rPr>
              <a:t>Robertson &amp; Zaragoza — The Probabilistic Relevance Framework: BM25 and Beyond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Dense retrieval: </a:t>
            </a:r>
            <a:r>
              <a:rPr lang="en-IN" b="0" dirty="0">
                <a:hlinkClick r:id="rId9"/>
              </a:rPr>
              <a:t>Sentence-BERT</a:t>
            </a:r>
            <a:r>
              <a:rPr lang="en-IN" b="0" dirty="0"/>
              <a:t> · </a:t>
            </a:r>
            <a:r>
              <a:rPr lang="en-IN" b="0" dirty="0">
                <a:hlinkClick r:id="rId10"/>
              </a:rPr>
              <a:t>BGE Embeddings (C-Pack)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Re-ranking: </a:t>
            </a:r>
            <a:r>
              <a:rPr lang="en-IN" b="0" dirty="0">
                <a:hlinkClick r:id="rId11"/>
              </a:rPr>
              <a:t>Passage Re-ranking with BERT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Retrieval-augmented generation: </a:t>
            </a:r>
            <a:r>
              <a:rPr lang="en-IN" b="0" dirty="0">
                <a:hlinkClick r:id="rId12"/>
              </a:rPr>
              <a:t>Lewis et al. — RAG for Knowledge-Intensive NLP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Graph-based RAG: </a:t>
            </a:r>
            <a:r>
              <a:rPr lang="en-IN" b="0" dirty="0">
                <a:hlinkClick r:id="rId13"/>
              </a:rPr>
              <a:t>From Local to Global: A Graph RAG Approach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Hybrid retrieval + re-ranking benchmarks: </a:t>
            </a:r>
            <a:r>
              <a:rPr lang="en-IN" b="0" dirty="0">
                <a:hlinkClick r:id="rId14"/>
              </a:rPr>
              <a:t>From BM25 to Corrective RAG (2026)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Citation-grounded hybrid + graph retrieval: </a:t>
            </a:r>
            <a:r>
              <a:rPr lang="en-IN" b="0" dirty="0">
                <a:hlinkClick r:id="rId15"/>
              </a:rPr>
              <a:t>Preventing LLM hallucination through hybrid retrieval and graph-augmented context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Multilingual translation: </a:t>
            </a:r>
            <a:r>
              <a:rPr lang="en-IN" b="0" dirty="0">
                <a:hlinkClick r:id="rId16"/>
              </a:rPr>
              <a:t>IndicTrans2 — 22 scheduled Indian languages (AI4Bharat)</a:t>
            </a:r>
            <a:endParaRPr lang="en-IN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0" dirty="0"/>
              <a:t>Confidence calibration: </a:t>
            </a:r>
            <a:r>
              <a:rPr lang="en-IN" b="0" dirty="0">
                <a:hlinkClick r:id="rId17"/>
              </a:rPr>
              <a:t>Guo et al. — On Calibration of Modern Neural Networks</a:t>
            </a:r>
            <a:endParaRPr lang="en-IN" b="0" dirty="0"/>
          </a:p>
        </p:txBody>
      </p:sp>
      <p:sp>
        <p:nvSpPr>
          <p:cNvPr id="10" name="object 10"/>
          <p:cNvSpPr txBox="1"/>
          <p:nvPr/>
        </p:nvSpPr>
        <p:spPr>
          <a:xfrm>
            <a:off x="5781294" y="949579"/>
            <a:ext cx="3352800" cy="10368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1600" b="1" u="sng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1600" b="1" u="sng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1600" b="1" u="sng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</a:t>
            </a:r>
            <a:r>
              <a:rPr lang="en-IN" sz="1600" b="1" u="sng" dirty="0" err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mparison</a:t>
            </a:r>
            <a:r>
              <a:rPr lang="en-IN" sz="16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table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661B8B-3574-083C-1D2C-795474CD38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415" y="2057399"/>
            <a:ext cx="6619585" cy="2743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946</Words>
  <Application>Microsoft Office PowerPoint</Application>
  <PresentationFormat>Widescreen</PresentationFormat>
  <Paragraphs>123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Garamond</vt:lpstr>
      <vt:lpstr>Times New Roman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SINGH</cp:lastModifiedBy>
  <cp:revision>3</cp:revision>
  <dcterms:created xsi:type="dcterms:W3CDTF">2026-09-20T11:05:29Z</dcterms:created>
  <dcterms:modified xsi:type="dcterms:W3CDTF">2026-09-20T13:29:14Z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2026-09-20T00:00:00Z</vt:filetime>
  </property>
  <property fmtid="{D5CDD505-2E9C-101B-9397-08002B2CF9AE}" pid="5" name="Producer">
    <vt:lpwstr>www.ilovepdf.com</vt:lpwstr>
  </property>
</Properties>
</file>